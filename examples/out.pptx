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growth %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7.2</c:v>
                </c:pt>
                <c:pt idx="1">
                  <c:v>6.4</c:v>
                </c:pt>
                <c:pt idx="2">
                  <c:v>4.1</c:v>
                </c:pt>
                <c:pt idx="3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growth %</c:v>
                </c:pt>
              </c:strCache>
            </c:strRef>
          </c:tx>
          <c:spPr>
            <a:solidFill>
              <a:srgbClr val="FE7C39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9.8</c:v>
                </c:pt>
                <c:pt idx="1">
                  <c:v>11.2</c:v>
                </c:pt>
                <c:pt idx="2">
                  <c:v>12.1</c:v>
                </c:pt>
                <c:pt idx="3">
                  <c:v>12.4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Q4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FY25 wrap-up —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09315" y="1959428"/>
            <a:ext cx="2813468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4898571"/>
            <a:ext cx="7502581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Market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Macro environment softened in H2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11253872" cy="4898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Industry growth decelerated to 3% from 7% in H1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Customer spend tightened across enterprise segment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Win rates held flat in our top-3 verticals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Pricing power preserved on renewals over $250k ACV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Sector growth decelerated through the year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68911" y="1469571"/>
          <a:ext cx="7502581" cy="489857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971493" y="1469571"/>
            <a:ext cx="3751290" cy="4898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Industry growth halved across the year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Our growth steady at 11-12%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Share gains continued through softening market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09315" y="1959428"/>
            <a:ext cx="2813468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4898571"/>
            <a:ext cx="7502581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Our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$1.8M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Q4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2379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32%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82379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Gross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+200bps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$0.4M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Free cash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+$150k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9315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Net retention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E9B01F"/>
                </a:solidFill>
                <a:latin typeface="Arial"/>
              </a:rPr>
              <a:t>-1pt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FY24 vs FY25 segment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FY24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FY25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Enterprise 58%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Mid-market 32%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SMB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7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Enterprise 64%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Mid-market 28%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SMB 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Pipeline by region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Region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Pipeline ($M)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Coverage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EMEA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7.8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APAC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2.9x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FY26 priorities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9271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Expand EMEA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Add 4 AEs in DACH and Nordics; localize self-serve.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4220202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0562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Tighten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Lift NRR to 100% via proactive renewals and price uplift on multi-year.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7971493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1853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Ship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Launch the unified API in Q2; deprecate v1 endpoints by Q4.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6734" y="1959428"/>
            <a:ext cx="9378227" cy="2204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i="1">
                <a:solidFill>
                  <a:srgbClr val="000000"/>
                </a:solidFill>
                <a:latin typeface="Georgia"/>
              </a:rPr>
              <a:t>“We're not winning because the market is good. We're winning because we executed when it wasn't.”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6734" y="4163784"/>
            <a:ext cx="9378227" cy="73478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>
                <a:solidFill>
                  <a:srgbClr val="A1A8B3"/>
                </a:solidFill>
                <a:latin typeface="Arial"/>
              </a:rPr>
              <a:t>— CEO, board call, Feb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20202" y="3429000"/>
            <a:ext cx="3751290" cy="979714"/>
          </a:xfrm>
          <a:prstGeom prst="round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questions@example.com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
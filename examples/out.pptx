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Industry growth %</c:v>
                </c:pt>
              </c:strCache>
            </c:strRef>
          </c:tx>
          <c:spPr>
            <a:solidFill>
              <a:srgbClr val="FD5108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7.2</c:v>
                </c:pt>
                <c:pt idx="1">
                  <c:v>6.4</c:v>
                </c:pt>
                <c:pt idx="2">
                  <c:v>4.1</c:v>
                </c:pt>
                <c:pt idx="3">
                  <c:v>3.0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 growth %</c:v>
                </c:pt>
              </c:strCache>
            </c:strRef>
          </c:tx>
          <c:spPr>
            <a:solidFill>
              <a:srgbClr val="FE7C39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9.8</c:v>
                </c:pt>
                <c:pt idx="1">
                  <c:v>11.2</c:v>
                </c:pt>
                <c:pt idx="2">
                  <c:v>12.1</c:v>
                </c:pt>
                <c:pt idx="3">
                  <c:v>12.4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911" y="2449285"/>
            <a:ext cx="11253872" cy="14695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Georgia"/>
              </a:rPr>
              <a:t>Q4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8911" y="3918857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A1A8B3"/>
                </a:solidFill>
                <a:latin typeface="Georgia"/>
              </a:rPr>
              <a:t>FY25 wrap-up —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71493" y="1959428"/>
            <a:ext cx="2813468" cy="2939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4000" b="0">
                <a:solidFill>
                  <a:srgbClr val="FE7C39"/>
                </a:solidFill>
                <a:latin typeface="Georg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8911" y="4898571"/>
            <a:ext cx="7502581" cy="14695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Georgia"/>
              </a:rPr>
              <a:t>Market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911" y="489857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Georgia"/>
              </a:rPr>
              <a:t>Macro environment softened in H2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8911" y="1469571"/>
            <a:ext cx="11253872" cy="48985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 Industry growth decelerated to 3% from 7% in H1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 Customer spend tightened across enterprise segment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 Win rates held flat in our top-3 verticals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 Pricing power preserved on renewals over $250k ACV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911" y="489857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Georgia"/>
              </a:rPr>
              <a:t>Sector growth decelerated through the year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68911" y="1469571"/>
          <a:ext cx="7502581" cy="489857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971493" y="1469571"/>
            <a:ext cx="3751290" cy="48985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 Industry growth halved across the year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 Our growth steady at 11-12%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 Share gains continued through softening market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71493" y="1959428"/>
            <a:ext cx="2813468" cy="2939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4000" b="0">
                <a:solidFill>
                  <a:srgbClr val="FE7C39"/>
                </a:solidFill>
                <a:latin typeface="Georg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8911" y="4898571"/>
            <a:ext cx="7502581" cy="14695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Georgia"/>
              </a:rPr>
              <a:t>Our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911" y="489857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Georgia"/>
              </a:rPr>
              <a:t>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8911" y="2449285"/>
            <a:ext cx="2813468" cy="1347106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/>
            <a:r>
              <a:rPr sz="4800" b="1">
                <a:solidFill>
                  <a:srgbClr val="FD5108"/>
                </a:solidFill>
                <a:latin typeface="Georgia"/>
              </a:rPr>
              <a:t>$1.8M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911" y="3796391"/>
            <a:ext cx="2813468" cy="61232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>
                <a:solidFill>
                  <a:srgbClr val="A1A8B3"/>
                </a:solidFill>
                <a:latin typeface="Arial"/>
              </a:rPr>
              <a:t>Q4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911" y="4408712"/>
            <a:ext cx="2813468" cy="48985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Arial"/>
              </a:rPr>
              <a:t>+12%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2379" y="2449285"/>
            <a:ext cx="2813468" cy="1347106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/>
            <a:r>
              <a:rPr sz="4800" b="1">
                <a:solidFill>
                  <a:srgbClr val="FD5108"/>
                </a:solidFill>
                <a:latin typeface="Georgia"/>
              </a:rPr>
              <a:t>32%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379" y="3796391"/>
            <a:ext cx="2813468" cy="61232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>
                <a:solidFill>
                  <a:srgbClr val="A1A8B3"/>
                </a:solidFill>
                <a:latin typeface="Arial"/>
              </a:rPr>
              <a:t>Gross margin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82379" y="4408712"/>
            <a:ext cx="2813468" cy="48985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Arial"/>
              </a:rPr>
              <a:t>+200bps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2449285"/>
            <a:ext cx="2813468" cy="1347106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/>
            <a:r>
              <a:rPr sz="4800" b="1">
                <a:solidFill>
                  <a:srgbClr val="FD5108"/>
                </a:solidFill>
                <a:latin typeface="Georgia"/>
              </a:rPr>
              <a:t>$0.4M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3796391"/>
            <a:ext cx="2813468" cy="61232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>
                <a:solidFill>
                  <a:srgbClr val="A1A8B3"/>
                </a:solidFill>
                <a:latin typeface="Arial"/>
              </a:rPr>
              <a:t>Free cash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4408712"/>
            <a:ext cx="2813468" cy="48985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Arial"/>
              </a:rPr>
              <a:t>+$150k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9315" y="2449285"/>
            <a:ext cx="2813468" cy="1347106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/>
            <a:r>
              <a:rPr sz="4800" b="1">
                <a:solidFill>
                  <a:srgbClr val="FD5108"/>
                </a:solidFill>
                <a:latin typeface="Georgia"/>
              </a:rPr>
              <a:t>94%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09315" y="3796391"/>
            <a:ext cx="2813468" cy="61232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>
                <a:solidFill>
                  <a:srgbClr val="A1A8B3"/>
                </a:solidFill>
                <a:latin typeface="Arial"/>
              </a:rPr>
              <a:t>Net retention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9315" y="4408712"/>
            <a:ext cx="2813468" cy="48985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E9B01F"/>
                </a:solidFill>
                <a:latin typeface="Arial"/>
              </a:rPr>
              <a:t>-1pt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911" y="489857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Georgia"/>
              </a:rPr>
              <a:t>FY24 vs FY25 segment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8911" y="1469571"/>
            <a:ext cx="5626936" cy="489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D5108"/>
                </a:solidFill>
                <a:latin typeface="Georgia"/>
              </a:rPr>
              <a:t>FY24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1469571"/>
            <a:ext cx="5626936" cy="489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D5108"/>
                </a:solidFill>
                <a:latin typeface="Georgia"/>
              </a:rPr>
              <a:t>FY25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911" y="1959428"/>
            <a:ext cx="5626936" cy="44087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 Enterprise 58%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 Mid-market 32%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 SMB 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1959428"/>
            <a:ext cx="5626936" cy="44087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 Enterprise 64%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 Mid-market 28%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 SMB 8%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911" y="489857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Georgia"/>
              </a:rPr>
              <a:t>Pipeline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8911" y="1469571"/>
          <a:ext cx="11253872" cy="4898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468"/>
                <a:gridCol w="2813468"/>
                <a:gridCol w="2813468"/>
                <a:gridCol w="2813468"/>
              </a:tblGrid>
              <a:tr h="97971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Georgia"/>
                        </a:rPr>
                        <a:t>Region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Georgia"/>
                        </a:rPr>
                        <a:t>Pipeline ($M)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Georgia"/>
                        </a:rPr>
                        <a:t>Coverage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Georgia"/>
                        </a:rPr>
                        <a:t>Win rate</a:t>
                      </a:r>
                    </a:p>
                  </a:txBody>
                  <a:tcPr>
                    <a:solidFill>
                      <a:srgbClr val="FD5108"/>
                    </a:solidFill>
                  </a:tcPr>
                </a:tc>
              </a:tr>
              <a:tr h="9797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Americas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12.4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3.2x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31%</a:t>
                      </a:r>
                    </a:p>
                  </a:txBody>
                  <a:tcPr>
                    <a:noFill/>
                  </a:tcPr>
                </a:tc>
              </a:tr>
              <a:tr h="9797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EMEA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7.8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2.8x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>
                    <a:noFill/>
                  </a:tcPr>
                </a:tc>
              </a:tr>
              <a:tr h="9797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APAC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3.1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2.1x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>
                    <a:noFill/>
                  </a:tcPr>
                </a:tc>
              </a:tr>
              <a:tr h="97971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23.3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2.9x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911" y="489857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Georgia"/>
              </a:rPr>
              <a:t>FY26 priorities</a:t>
            </a:r>
          </a:p>
        </p:txBody>
      </p:sp>
      <p:sp>
        <p:nvSpPr>
          <p:cNvPr id="3" name="ASSET_PLACEHOLDER:none:contain"/>
          <p:cNvSpPr/>
          <p:nvPr/>
        </p:nvSpPr>
        <p:spPr>
          <a:xfrm>
            <a:off x="468911" y="1469571"/>
            <a:ext cx="937822" cy="1469571"/>
          </a:xfrm>
          <a:prstGeom prst="rect">
            <a:avLst/>
          </a:prstGeom>
          <a:solidFill>
            <a:srgbClr val="FFF5ED"/>
          </a:solidFill>
          <a:ln w="12700">
            <a:solidFill>
              <a:srgbClr val="FD5108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19271" y="1469571"/>
            <a:ext cx="2700930" cy="14695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Expand EMEA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911" y="2939142"/>
            <a:ext cx="375129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Add 4 AEs in DACH and Nordics; localize self-serve.</a:t>
            </a:r>
          </a:p>
        </p:txBody>
      </p:sp>
      <p:sp>
        <p:nvSpPr>
          <p:cNvPr id="6" name="ASSET_PLACEHOLDER:none:contain"/>
          <p:cNvSpPr/>
          <p:nvPr/>
        </p:nvSpPr>
        <p:spPr>
          <a:xfrm>
            <a:off x="4220202" y="1469571"/>
            <a:ext cx="937822" cy="1469571"/>
          </a:xfrm>
          <a:prstGeom prst="rect">
            <a:avLst/>
          </a:prstGeom>
          <a:solidFill>
            <a:srgbClr val="FFF5ED"/>
          </a:solidFill>
          <a:ln w="12700">
            <a:solidFill>
              <a:srgbClr val="FD5108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70562" y="1469571"/>
            <a:ext cx="2700930" cy="14695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Tighten retention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20202" y="2939142"/>
            <a:ext cx="375129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Lift NRR to 100% via proactive renewals and price uplift on multi-year.</a:t>
            </a:r>
          </a:p>
        </p:txBody>
      </p:sp>
      <p:sp>
        <p:nvSpPr>
          <p:cNvPr id="9" name="ASSET_PLACEHOLDER:none:contain"/>
          <p:cNvSpPr/>
          <p:nvPr/>
        </p:nvSpPr>
        <p:spPr>
          <a:xfrm>
            <a:off x="7971493" y="1469571"/>
            <a:ext cx="937822" cy="1469571"/>
          </a:xfrm>
          <a:prstGeom prst="rect">
            <a:avLst/>
          </a:prstGeom>
          <a:solidFill>
            <a:srgbClr val="FFF5ED"/>
          </a:solidFill>
          <a:ln w="12700">
            <a:solidFill>
              <a:srgbClr val="FD5108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21853" y="1469571"/>
            <a:ext cx="2700930" cy="14695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Ship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1493" y="2939142"/>
            <a:ext cx="375129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Launch the unified API in Q2; deprecate v1 endpoints by Q4.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06734" y="1959428"/>
            <a:ext cx="9378227" cy="2204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i="1">
                <a:solidFill>
                  <a:srgbClr val="000000"/>
                </a:solidFill>
                <a:latin typeface="Georgia"/>
              </a:rPr>
              <a:t>“We're not winning because the market is good. We're winning because we executed when it wasn't.”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06734" y="4163784"/>
            <a:ext cx="9378227" cy="73478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>
                <a:solidFill>
                  <a:srgbClr val="A1A8B3"/>
                </a:solidFill>
                <a:latin typeface="Arial"/>
              </a:rPr>
              <a:t>— CEO, board call, Feb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911" y="1469571"/>
            <a:ext cx="11253872" cy="14695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Georgia"/>
              </a:rPr>
              <a:t>Thank you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20202" y="3429000"/>
            <a:ext cx="3751290" cy="979714"/>
          </a:xfrm>
          <a:prstGeom prst="round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911" y="4898571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1A8B3"/>
                </a:solidFill>
                <a:latin typeface="Arial"/>
              </a:rPr>
              <a:t>questions@example.com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
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8911" y="2449285"/>
            <a:ext cx="11253872" cy="14695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800" b="1">
                <a:solidFill>
                  <a:srgbClr val="000000"/>
                </a:solidFill>
                <a:latin typeface="Georgia"/>
              </a:rPr>
              <a:t>Recipe expansion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911" y="3918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A1A8B3"/>
                </a:solidFill>
                <a:latin typeface="Georgia"/>
              </a:rPr>
              <a:t>7 new recipes + tuned section dividers + background enum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71493" y="979714"/>
            <a:ext cx="2813468" cy="4408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30000" b="0">
                <a:solidFill>
                  <a:srgbClr val="FE7C39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911" y="5388428"/>
            <a:ext cx="7502581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Tuned section dividers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06734" y="979714"/>
            <a:ext cx="2813468" cy="4408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30000" b="0">
                <a:solidFill>
                  <a:srgbClr val="FE7C39"/>
                </a:solidFill>
                <a:latin typeface="Georg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20202" y="5388428"/>
            <a:ext cx="7502581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4800" b="1">
                <a:solidFill>
                  <a:srgbClr val="000000"/>
                </a:solidFill>
                <a:latin typeface="Georgia"/>
              </a:rPr>
              <a:t>Now alignment-aware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20202" y="489857"/>
            <a:ext cx="3751290" cy="4408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30000" b="0">
                <a:solidFill>
                  <a:srgbClr val="FE7C39"/>
                </a:solidFill>
                <a:latin typeface="Georg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911" y="5388428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800" b="1">
                <a:solidFill>
                  <a:srgbClr val="000000"/>
                </a:solidFill>
                <a:latin typeface="Georgia"/>
              </a:rPr>
              <a:t>Centered variant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71493" y="979714"/>
            <a:ext cx="2813468" cy="4408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30000" b="0">
                <a:solidFill>
                  <a:srgbClr val="FE7C39"/>
                </a:solidFill>
                <a:latin typeface="Georgi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911" y="5388428"/>
            <a:ext cx="7502581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New recipes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Single-metric 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911" y="1469571"/>
            <a:ext cx="7502581" cy="391885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5000" b="1">
                <a:solidFill>
                  <a:srgbClr val="FD5108"/>
                </a:solidFill>
                <a:latin typeface="Georgia"/>
              </a:rPr>
              <a:t>$12.4M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71493" y="1469571"/>
            <a:ext cx="3751290" cy="391885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Up 38% YoY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Coverage at 3.2x quota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000000"/>
                </a:solidFill>
                <a:latin typeface="Arial"/>
              </a:rPr>
              <a:t>•  Largest deal: $1.8M ACV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911" y="5878285"/>
            <a:ext cx="11253872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>
                <a:solidFill>
                  <a:srgbClr val="A1A8B3"/>
                </a:solidFill>
                <a:latin typeface="Arial"/>
              </a:rPr>
              <a:t>Total pipeline, end of Q4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8911" y="1469571"/>
            <a:ext cx="11253872" cy="3429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600" b="1">
                <a:solidFill>
                  <a:srgbClr val="000000"/>
                </a:solidFill>
                <a:latin typeface="Georgia"/>
              </a:rPr>
              <a:t>We doubled revenue without doubling headcount.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911" y="4898571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A1A8B3"/>
                </a:solidFill>
                <a:latin typeface="Arial"/>
              </a:rPr>
              <a:t>And tightened margins along the 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911" y="1469571"/>
            <a:ext cx="93782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FD5108"/>
                </a:solidFill>
                <a:latin typeface="Georgia"/>
              </a:rP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6734" y="1469571"/>
            <a:ext cx="10316049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Q4 results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911" y="2449285"/>
            <a:ext cx="93782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FD5108"/>
                </a:solidFill>
                <a:latin typeface="Georgia"/>
              </a:rP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6734" y="2449285"/>
            <a:ext cx="10316049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What worked, what didn't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911" y="3429000"/>
            <a:ext cx="93782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FD5108"/>
                </a:solidFill>
                <a:latin typeface="Georgia"/>
              </a:rP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6734" y="3429000"/>
            <a:ext cx="10316049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Customer themes from the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911" y="4408714"/>
            <a:ext cx="93782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FD5108"/>
                </a:solidFill>
                <a:latin typeface="Georgia"/>
              </a:rP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6734" y="4408714"/>
            <a:ext cx="10316049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FY26 priorities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911" y="5388428"/>
            <a:ext cx="93782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FD5108"/>
                </a:solidFill>
                <a:latin typeface="Georgia"/>
              </a:rPr>
              <a:t>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6734" y="5388428"/>
            <a:ext cx="10316049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Discussion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Six things we're betting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8911" y="1469571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FD5108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911" y="2449285"/>
            <a:ext cx="3751290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911" y="2939142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Unified API as the foundation.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0202" y="1469571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FD5108"/>
                </a:solidFill>
                <a:latin typeface="Georg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0202" y="2449285"/>
            <a:ext cx="3751290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Self-serve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0202" y="2939142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Free tier with usage-based upgrade.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1493" y="1469571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FD5108"/>
                </a:solidFill>
                <a:latin typeface="Georg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1493" y="2449285"/>
            <a:ext cx="3751290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1493" y="2939142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SOC2 + DLP + dedicated support.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911" y="3918857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FD5108"/>
                </a:solidFill>
                <a:latin typeface="Georgia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911" y="4898571"/>
            <a:ext cx="3751290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Vertical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911" y="5388428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Healthcare-specific compliance kit.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0202" y="3918857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FD5108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0202" y="4898571"/>
            <a:ext cx="3751290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GTM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0202" y="5388428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EMEA expansion + partner channel.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1493" y="3918857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FD5108"/>
                </a:solidFill>
                <a:latin typeface="Georgia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1493" y="4898571"/>
            <a:ext cx="3751290" cy="4898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Pricing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1493" y="5388428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Multi-year discount on annual commits.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Four pillars</a:t>
            </a:r>
          </a:p>
        </p:txBody>
      </p:sp>
      <p:sp>
        <p:nvSpPr>
          <p:cNvPr id="3" name="ASSET_PLACEHOLDER:none:contain"/>
          <p:cNvSpPr/>
          <p:nvPr/>
        </p:nvSpPr>
        <p:spPr>
          <a:xfrm>
            <a:off x="468911" y="1469571"/>
            <a:ext cx="703367" cy="1469571"/>
          </a:xfrm>
          <a:prstGeom prst="rect">
            <a:avLst/>
          </a:prstGeom>
          <a:solidFill>
            <a:srgbClr val="FFF5ED"/>
          </a:solidFill>
          <a:ln w="12700">
            <a:solidFill>
              <a:srgbClr val="FD510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6682" y="1469571"/>
            <a:ext cx="2025697" cy="14695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911" y="2939142"/>
            <a:ext cx="2813468" cy="342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99.99% uptime SLA on all tiers.</a:t>
            </a:r>
          </a:p>
        </p:txBody>
      </p:sp>
      <p:sp>
        <p:nvSpPr>
          <p:cNvPr id="6" name="ASSET_PLACEHOLDER:none:contain"/>
          <p:cNvSpPr/>
          <p:nvPr/>
        </p:nvSpPr>
        <p:spPr>
          <a:xfrm>
            <a:off x="3282379" y="1469571"/>
            <a:ext cx="703367" cy="1469571"/>
          </a:xfrm>
          <a:prstGeom prst="rect">
            <a:avLst/>
          </a:prstGeom>
          <a:solidFill>
            <a:srgbClr val="FFF5ED"/>
          </a:solidFill>
          <a:ln w="12700">
            <a:solidFill>
              <a:srgbClr val="FD510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70150" y="1469571"/>
            <a:ext cx="2025697" cy="14695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82379" y="2939142"/>
            <a:ext cx="2813468" cy="342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p99 below 200ms globally.</a:t>
            </a:r>
          </a:p>
        </p:txBody>
      </p:sp>
      <p:sp>
        <p:nvSpPr>
          <p:cNvPr id="9" name="ASSET_PLACEHOLDER:none:contain"/>
          <p:cNvSpPr/>
          <p:nvPr/>
        </p:nvSpPr>
        <p:spPr>
          <a:xfrm>
            <a:off x="6095847" y="1469571"/>
            <a:ext cx="703367" cy="1469571"/>
          </a:xfrm>
          <a:prstGeom prst="rect">
            <a:avLst/>
          </a:prstGeom>
          <a:solidFill>
            <a:srgbClr val="FFF5ED"/>
          </a:solidFill>
          <a:ln w="12700">
            <a:solidFill>
              <a:srgbClr val="FD510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3618" y="1469571"/>
            <a:ext cx="2025697" cy="14695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2939142"/>
            <a:ext cx="2813468" cy="342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Zero-trust, SOC2, ISO 27001.</a:t>
            </a:r>
          </a:p>
        </p:txBody>
      </p:sp>
      <p:sp>
        <p:nvSpPr>
          <p:cNvPr id="12" name="ASSET_PLACEHOLDER:none:contain"/>
          <p:cNvSpPr/>
          <p:nvPr/>
        </p:nvSpPr>
        <p:spPr>
          <a:xfrm>
            <a:off x="8909315" y="1469571"/>
            <a:ext cx="703367" cy="1469571"/>
          </a:xfrm>
          <a:prstGeom prst="rect">
            <a:avLst/>
          </a:prstGeom>
          <a:solidFill>
            <a:srgbClr val="FFF5ED"/>
          </a:solidFill>
          <a:ln w="12700">
            <a:solidFill>
              <a:srgbClr val="FD510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7086" y="1469571"/>
            <a:ext cx="2025697" cy="14695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9315" y="2939142"/>
            <a:ext cx="2813468" cy="342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GDPR, HIPAA, PCI ready.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Six product themes</a:t>
            </a:r>
          </a:p>
        </p:txBody>
      </p:sp>
      <p:sp>
        <p:nvSpPr>
          <p:cNvPr id="3" name="ASSET_PLACEHOLDER:none:contain"/>
          <p:cNvSpPr/>
          <p:nvPr/>
        </p:nvSpPr>
        <p:spPr>
          <a:xfrm>
            <a:off x="468911" y="1469571"/>
            <a:ext cx="937822" cy="1469571"/>
          </a:xfrm>
          <a:prstGeom prst="rect">
            <a:avLst/>
          </a:prstGeom>
          <a:solidFill>
            <a:srgbClr val="FFF5ED"/>
          </a:solidFill>
          <a:ln w="12700">
            <a:solidFill>
              <a:srgbClr val="FD510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19271" y="1469571"/>
            <a:ext cx="2700930" cy="14695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911" y="2939142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Composable automation.</a:t>
            </a:r>
          </a:p>
        </p:txBody>
      </p:sp>
      <p:sp>
        <p:nvSpPr>
          <p:cNvPr id="6" name="ASSET_PLACEHOLDER:none:contain"/>
          <p:cNvSpPr/>
          <p:nvPr/>
        </p:nvSpPr>
        <p:spPr>
          <a:xfrm>
            <a:off x="4220202" y="1469571"/>
            <a:ext cx="937822" cy="1469571"/>
          </a:xfrm>
          <a:prstGeom prst="rect">
            <a:avLst/>
          </a:prstGeom>
          <a:solidFill>
            <a:srgbClr val="FFF5ED"/>
          </a:solidFill>
          <a:ln w="12700">
            <a:solidFill>
              <a:srgbClr val="FD510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70562" y="1469571"/>
            <a:ext cx="2700930" cy="14695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0202" y="2939142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Real-time analytics.</a:t>
            </a:r>
          </a:p>
        </p:txBody>
      </p:sp>
      <p:sp>
        <p:nvSpPr>
          <p:cNvPr id="9" name="ASSET_PLACEHOLDER:none:contain"/>
          <p:cNvSpPr/>
          <p:nvPr/>
        </p:nvSpPr>
        <p:spPr>
          <a:xfrm>
            <a:off x="7971493" y="1469571"/>
            <a:ext cx="937822" cy="1469571"/>
          </a:xfrm>
          <a:prstGeom prst="rect">
            <a:avLst/>
          </a:prstGeom>
          <a:solidFill>
            <a:srgbClr val="FFF5ED"/>
          </a:solidFill>
          <a:ln w="12700">
            <a:solidFill>
              <a:srgbClr val="FD510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21853" y="1469571"/>
            <a:ext cx="2700930" cy="14695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Mobile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1493" y="2939142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Native iOS + Android.</a:t>
            </a:r>
          </a:p>
        </p:txBody>
      </p:sp>
      <p:sp>
        <p:nvSpPr>
          <p:cNvPr id="12" name="ASSET_PLACEHOLDER:none:contain"/>
          <p:cNvSpPr/>
          <p:nvPr/>
        </p:nvSpPr>
        <p:spPr>
          <a:xfrm>
            <a:off x="468911" y="3918857"/>
            <a:ext cx="937822" cy="1469571"/>
          </a:xfrm>
          <a:prstGeom prst="rect">
            <a:avLst/>
          </a:prstGeom>
          <a:solidFill>
            <a:srgbClr val="FFF5ED"/>
          </a:solidFill>
          <a:ln w="12700">
            <a:solidFill>
              <a:srgbClr val="FD510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9271" y="3918857"/>
            <a:ext cx="2700930" cy="14695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Integrations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911" y="5388428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200+ connectors.</a:t>
            </a:r>
          </a:p>
        </p:txBody>
      </p:sp>
      <p:sp>
        <p:nvSpPr>
          <p:cNvPr id="15" name="ASSET_PLACEHOLDER:none:contain"/>
          <p:cNvSpPr/>
          <p:nvPr/>
        </p:nvSpPr>
        <p:spPr>
          <a:xfrm>
            <a:off x="4220202" y="3918857"/>
            <a:ext cx="937822" cy="1469571"/>
          </a:xfrm>
          <a:prstGeom prst="rect">
            <a:avLst/>
          </a:prstGeom>
          <a:solidFill>
            <a:srgbClr val="FFF5ED"/>
          </a:solidFill>
          <a:ln w="12700">
            <a:solidFill>
              <a:srgbClr val="FD510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0562" y="3918857"/>
            <a:ext cx="2700930" cy="14695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0202" y="5388428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Granular RBAC.</a:t>
            </a:r>
          </a:p>
        </p:txBody>
      </p:sp>
      <p:sp>
        <p:nvSpPr>
          <p:cNvPr id="18" name="ASSET_PLACEHOLDER:none:contain"/>
          <p:cNvSpPr/>
          <p:nvPr/>
        </p:nvSpPr>
        <p:spPr>
          <a:xfrm>
            <a:off x="7971493" y="3918857"/>
            <a:ext cx="937822" cy="1469571"/>
          </a:xfrm>
          <a:prstGeom prst="rect">
            <a:avLst/>
          </a:prstGeom>
          <a:solidFill>
            <a:srgbClr val="FFF5ED"/>
          </a:solidFill>
          <a:ln w="12700">
            <a:solidFill>
              <a:srgbClr val="FD510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1853" y="3918857"/>
            <a:ext cx="2700930" cy="14695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Extensibility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1493" y="5388428"/>
            <a:ext cx="375129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Public API + plugin SDK.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911" y="489857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800" b="1">
                <a:solidFill>
                  <a:srgbClr val="000000"/>
                </a:solidFill>
                <a:latin typeface="Georgia"/>
              </a:rPr>
              <a:t>Customer segments — 2×2</a:t>
            </a:r>
          </a:p>
        </p:txBody>
      </p:sp>
      <p:sp>
        <p:nvSpPr>
          <p:cNvPr id="3" name="ASSET_PLACEHOLDER:none:fill"/>
          <p:cNvSpPr/>
          <p:nvPr/>
        </p:nvSpPr>
        <p:spPr>
          <a:xfrm>
            <a:off x="468911" y="1469571"/>
            <a:ext cx="1800619" cy="1959428"/>
          </a:xfrm>
          <a:prstGeom prst="rect">
            <a:avLst/>
          </a:prstGeom>
          <a:solidFill>
            <a:srgbClr val="EEEFF1"/>
          </a:solidFill>
          <a:ln w="12700">
            <a:solidFill>
              <a:srgbClr val="B5BC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A1A8B3"/>
                </a:solidFill>
                <a:latin typeface="Arial"/>
              </a:rPr>
              <a:t>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7147" y="1616528"/>
            <a:ext cx="3488700" cy="685799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7147" y="2302328"/>
            <a:ext cx="348870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5000+ seats, multi-year contracts.</a:t>
            </a:r>
          </a:p>
        </p:txBody>
      </p:sp>
      <p:sp>
        <p:nvSpPr>
          <p:cNvPr id="6" name="ASSET_PLACEHOLDER:none:fill"/>
          <p:cNvSpPr/>
          <p:nvPr/>
        </p:nvSpPr>
        <p:spPr>
          <a:xfrm>
            <a:off x="6095847" y="1469571"/>
            <a:ext cx="1800619" cy="1959428"/>
          </a:xfrm>
          <a:prstGeom prst="rect">
            <a:avLst/>
          </a:prstGeom>
          <a:solidFill>
            <a:srgbClr val="EEEFF1"/>
          </a:solidFill>
          <a:ln w="12700">
            <a:solidFill>
              <a:srgbClr val="B5BC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A1A8B3"/>
                </a:solidFill>
                <a:latin typeface="Arial"/>
              </a:rPr>
              <a:t>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34083" y="1616528"/>
            <a:ext cx="3488700" cy="685799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Mid-market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4083" y="2302328"/>
            <a:ext cx="348870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500-5000 seats, annual.</a:t>
            </a:r>
          </a:p>
        </p:txBody>
      </p:sp>
      <p:sp>
        <p:nvSpPr>
          <p:cNvPr id="9" name="ASSET_PLACEHOLDER:none:fill"/>
          <p:cNvSpPr/>
          <p:nvPr/>
        </p:nvSpPr>
        <p:spPr>
          <a:xfrm>
            <a:off x="468911" y="3918857"/>
            <a:ext cx="1800619" cy="1959428"/>
          </a:xfrm>
          <a:prstGeom prst="rect">
            <a:avLst/>
          </a:prstGeom>
          <a:solidFill>
            <a:srgbClr val="EEEFF1"/>
          </a:solidFill>
          <a:ln w="12700">
            <a:solidFill>
              <a:srgbClr val="B5BC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A1A8B3"/>
                </a:solidFill>
                <a:latin typeface="Arial"/>
              </a:rPr>
              <a:t>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7147" y="4065814"/>
            <a:ext cx="3488700" cy="685799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SMB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7147" y="4751614"/>
            <a:ext cx="348870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Up to 500 seats, monthly billing.</a:t>
            </a:r>
          </a:p>
        </p:txBody>
      </p:sp>
      <p:sp>
        <p:nvSpPr>
          <p:cNvPr id="12" name="ASSET_PLACEHOLDER:none:fill"/>
          <p:cNvSpPr/>
          <p:nvPr/>
        </p:nvSpPr>
        <p:spPr>
          <a:xfrm>
            <a:off x="6095847" y="3918857"/>
            <a:ext cx="1800619" cy="1959428"/>
          </a:xfrm>
          <a:prstGeom prst="rect">
            <a:avLst/>
          </a:prstGeom>
          <a:solidFill>
            <a:srgbClr val="EEEFF1"/>
          </a:solidFill>
          <a:ln w="12700">
            <a:solidFill>
              <a:srgbClr val="B5BCC4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A1A8B3"/>
                </a:solidFill>
                <a:latin typeface="Arial"/>
              </a:rPr>
              <a:t>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4083" y="4065814"/>
            <a:ext cx="3488700" cy="685799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Georgia"/>
              </a:rPr>
              <a:t>Self-serve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4083" y="4751614"/>
            <a:ext cx="3488700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rial"/>
              </a:rPr>
              <a:t>Pay-as-you-go individuals.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8911" y="1469571"/>
            <a:ext cx="11253872" cy="146957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800" b="1">
                <a:solidFill>
                  <a:srgbClr val="000000"/>
                </a:solidFill>
                <a:latin typeface="Georgia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220202" y="3429000"/>
            <a:ext cx="3751290" cy="979714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911" y="4898571"/>
            <a:ext cx="11253872" cy="9797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0">
                <a:solidFill>
                  <a:srgbClr val="A1A8B3"/>
                </a:solidFill>
                <a:latin typeface="Arial"/>
              </a:rPr>
              <a:t>hello@example.com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
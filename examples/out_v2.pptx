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Georgia"/>
              </a:rPr>
              <a:t>Recipe expansion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7 new recipes + tuned section dividers + background enum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71493" y="979714"/>
            <a:ext cx="2813468" cy="440871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30000" b="0">
                <a:solidFill>
                  <a:srgbClr val="FE7C39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Tuned section dividers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6734" y="979714"/>
            <a:ext cx="2813468" cy="440871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30000" b="0">
                <a:solidFill>
                  <a:srgbClr val="FE7C39"/>
                </a:solidFill>
                <a:latin typeface="Georg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0202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800" b="1">
                <a:solidFill>
                  <a:srgbClr val="000000"/>
                </a:solidFill>
                <a:latin typeface="Georgia"/>
              </a:rPr>
              <a:t>Now alignment-aware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0202" y="979714"/>
            <a:ext cx="3751290" cy="440871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30000" b="0">
                <a:solidFill>
                  <a:srgbClr val="FE7C39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5388428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Georgia"/>
              </a:rPr>
              <a:t>Centered variant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71493" y="979714"/>
            <a:ext cx="2813468" cy="440871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30000" b="0">
                <a:solidFill>
                  <a:srgbClr val="FE7C39"/>
                </a:solidFill>
                <a:latin typeface="Georgia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New recipes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Single-metric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7502581" cy="391885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5000" b="1">
                <a:solidFill>
                  <a:srgbClr val="FD5108"/>
                </a:solidFill>
                <a:latin typeface="Georgia"/>
              </a:rPr>
              <a:t>$12.4M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71493" y="1469571"/>
            <a:ext cx="3751290" cy="391885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Up 38% YoY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Coverage at 3.2x quota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Largest deal: $1.8M ACV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5878285"/>
            <a:ext cx="11253872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Total pipeline, end of Q4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1959428"/>
            <a:ext cx="9378227" cy="19594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Georgia"/>
              </a:rPr>
              <a:t>We doubled revenue without doubling headcount.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408714"/>
            <a:ext cx="9378227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A1A8B3"/>
                </a:solidFill>
                <a:latin typeface="Arial"/>
              </a:rPr>
              <a:t>And tightened margins along the 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Today's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6734" y="1469571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Q4 results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449285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734" y="2449285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What worked, what didn't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911" y="3429000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6734" y="3429000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Customer themes from the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911" y="4408714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6734" y="4408714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FY26 priorities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911" y="5388428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6734" y="5388428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Discussion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Six things we're betting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Unified API as the foundation.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0202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202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Self-serve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Free tier with usage-based upgrade.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1493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1493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SOC2 + DLP + dedicated support.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911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911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Vertical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911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Healthcare-specific compliance kit.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0202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0202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GTM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0202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EMEA expansion + partner channel.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1493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1493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Pricing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1493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Multi-year discount on annual commits.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Four pillars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6682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99.99% uptime SLA on all tiers.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3282379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70150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p99 below 200ms globally.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6095847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3618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Zero-trust, SOC2, ISO 27001.</a:t>
            </a:r>
          </a:p>
        </p:txBody>
      </p:sp>
      <p:sp>
        <p:nvSpPr>
          <p:cNvPr id="12" name="ASSET_PLACEHOLDER:none:contain"/>
          <p:cNvSpPr/>
          <p:nvPr/>
        </p:nvSpPr>
        <p:spPr>
          <a:xfrm>
            <a:off x="8909315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7086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GDPR, HIPAA, PCI ready.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Six product themes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9271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449285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Composable automation.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4220202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0562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449285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Real-time analytics.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7971493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1853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Mobile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449285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Native iOS + Android.</a:t>
            </a:r>
          </a:p>
        </p:txBody>
      </p:sp>
      <p:sp>
        <p:nvSpPr>
          <p:cNvPr id="12" name="ASSET_PLACEHOLDER:none:contain"/>
          <p:cNvSpPr/>
          <p:nvPr/>
        </p:nvSpPr>
        <p:spPr>
          <a:xfrm>
            <a:off x="468911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9271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Integrations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911" y="4898571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200+ connectors.</a:t>
            </a:r>
          </a:p>
        </p:txBody>
      </p:sp>
      <p:sp>
        <p:nvSpPr>
          <p:cNvPr id="15" name="ASSET_PLACEHOLDER:none:contain"/>
          <p:cNvSpPr/>
          <p:nvPr/>
        </p:nvSpPr>
        <p:spPr>
          <a:xfrm>
            <a:off x="4220202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0562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0202" y="4898571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Granular RBAC.</a:t>
            </a:r>
          </a:p>
        </p:txBody>
      </p:sp>
      <p:sp>
        <p:nvSpPr>
          <p:cNvPr id="18" name="ASSET_PLACEHOLDER:none:contain"/>
          <p:cNvSpPr/>
          <p:nvPr/>
        </p:nvSpPr>
        <p:spPr>
          <a:xfrm>
            <a:off x="7971493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1853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Extensibility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1493" y="4898571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Public API + plugin SDK.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Customer segments — 2×2</a:t>
            </a:r>
          </a:p>
        </p:txBody>
      </p:sp>
      <p:sp>
        <p:nvSpPr>
          <p:cNvPr id="3" name="ASSET_PLACEHOLDER:none:fill"/>
          <p:cNvSpPr/>
          <p:nvPr/>
        </p:nvSpPr>
        <p:spPr>
          <a:xfrm>
            <a:off x="468911" y="1469571"/>
            <a:ext cx="1800619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7147" y="1616528"/>
            <a:ext cx="3488700" cy="685799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7147" y="2302328"/>
            <a:ext cx="348870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5000+ seats, multi-year contracts.</a:t>
            </a:r>
          </a:p>
        </p:txBody>
      </p:sp>
      <p:sp>
        <p:nvSpPr>
          <p:cNvPr id="6" name="ASSET_PLACEHOLDER:none:fill"/>
          <p:cNvSpPr/>
          <p:nvPr/>
        </p:nvSpPr>
        <p:spPr>
          <a:xfrm>
            <a:off x="6095847" y="1469571"/>
            <a:ext cx="1800619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34083" y="1616528"/>
            <a:ext cx="3488700" cy="685799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Mid-market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4083" y="2302328"/>
            <a:ext cx="348870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500-5000 seats, annual.</a:t>
            </a:r>
          </a:p>
        </p:txBody>
      </p:sp>
      <p:sp>
        <p:nvSpPr>
          <p:cNvPr id="9" name="ASSET_PLACEHOLDER:none:fill"/>
          <p:cNvSpPr/>
          <p:nvPr/>
        </p:nvSpPr>
        <p:spPr>
          <a:xfrm>
            <a:off x="468911" y="3918857"/>
            <a:ext cx="1800619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7147" y="4065814"/>
            <a:ext cx="3488700" cy="685799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7147" y="4751614"/>
            <a:ext cx="348870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Up to 500 seats, monthly billing.</a:t>
            </a:r>
          </a:p>
        </p:txBody>
      </p:sp>
      <p:sp>
        <p:nvSpPr>
          <p:cNvPr id="12" name="ASSET_PLACEHOLDER:none:fill"/>
          <p:cNvSpPr/>
          <p:nvPr/>
        </p:nvSpPr>
        <p:spPr>
          <a:xfrm>
            <a:off x="6095847" y="3918857"/>
            <a:ext cx="1800619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4083" y="4065814"/>
            <a:ext cx="3488700" cy="685799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Self-serve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4083" y="4751614"/>
            <a:ext cx="3488700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Pay-as-you-go individuals.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4220202" y="3429000"/>
            <a:ext cx="3751290" cy="979714"/>
          </a:xfrm>
          <a:prstGeom prst="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hello@example.com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
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2449285"/>
            <a:ext cx="11253872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Georgia"/>
              </a:rPr>
              <a:t>Branded recipe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3918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A1A8B3"/>
                </a:solidFill>
                <a:latin typeface="Georgia"/>
              </a:rPr>
              <a:t>Tables (5 styles) + team layouts (2 variants)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Pricing tiers — filled_accent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1469571"/>
            <a:ext cx="4689113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FD5108"/>
                </a:solidFill>
                <a:latin typeface="Georgia"/>
              </a:rPr>
              <a:t>Headline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2449285"/>
            <a:ext cx="4689113" cy="3918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Three tiers spanning all customer sizes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Annual commit discount applies on Pro and Enterprise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All tiers include SSO + audit logs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58024" y="1469571"/>
          <a:ext cx="6564758" cy="4898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189"/>
                <a:gridCol w="1641189"/>
                <a:gridCol w="1641189"/>
                <a:gridCol w="1641191"/>
              </a:tblGrid>
              <a:tr h="122464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Tier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Seats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Annual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Monthly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</a:tr>
              <a:tr h="12246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Starter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Up to 10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$1,200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$120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</a:tr>
              <a:tr h="12246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Pro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11-100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$8,400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$840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</a:tr>
              <a:tr h="122464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Enterprise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Custom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Custom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Custom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Feature matrix — filled_neutral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1469571"/>
            <a:ext cx="4689113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FD5108"/>
                </a:solidFill>
                <a:latin typeface="Georgia"/>
              </a:rPr>
              <a:t>What's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2449285"/>
            <a:ext cx="4689113" cy="3918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Core features on all tiers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Advanced workflows on Pro+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Custom SLAs on Enterprise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58024" y="1469571"/>
          <a:ext cx="6564758" cy="4898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189"/>
                <a:gridCol w="1641189"/>
                <a:gridCol w="1641189"/>
                <a:gridCol w="1641191"/>
              </a:tblGrid>
              <a:tr h="122464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Georgia"/>
                        </a:rPr>
                        <a:t>Feature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Georgia"/>
                        </a:rPr>
                        <a:t>Starter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Georgia"/>
                        </a:rPr>
                        <a:t>Pro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Georgia"/>
                        </a:rPr>
                        <a:t>Enterprise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</a:tr>
              <a:tr h="12246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SSO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</a:tr>
              <a:tr h="12246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Audit logs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30 days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 year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Custom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</a:tr>
              <a:tr h="122464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Custom SLA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Pipeline by region — header_accent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8911" y="1469571"/>
          <a:ext cx="11253872" cy="4898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468"/>
                <a:gridCol w="2813468"/>
                <a:gridCol w="2813468"/>
                <a:gridCol w="2813468"/>
              </a:tblGrid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Region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Pipeline ($M)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Coverage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Win rate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</a:tr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Americas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12.4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3.2x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>
                    <a:noFill/>
                  </a:tcPr>
                </a:tc>
              </a:tr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EMEA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7.8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2.8x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>
                    <a:noFill/>
                  </a:tcPr>
                </a:tc>
              </a:tr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APAC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3.1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2.1x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>
                    <a:noFill/>
                  </a:tcPr>
                </a:tc>
              </a:tr>
              <a:tr h="97971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23.3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2.9x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Win-rate trend — zebra_neutral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8911" y="1469571"/>
          <a:ext cx="11253872" cy="4898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468"/>
                <a:gridCol w="2813468"/>
                <a:gridCol w="2813468"/>
                <a:gridCol w="2813468"/>
              </a:tblGrid>
              <a:tr h="8164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Georgia"/>
                        </a:rPr>
                        <a:t>Quarter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Georgia"/>
                        </a:rPr>
                        <a:t>Won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Georgia"/>
                        </a:rPr>
                        <a:t>Lost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Georgia"/>
                        </a:rPr>
                        <a:t>Win rate</a:t>
                      </a:r>
                    </a:p>
                  </a:txBody>
                  <a:tcPr>
                    <a:noFill/>
                  </a:tcPr>
                </a:tc>
              </a:tr>
              <a:tr h="8164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</a:tr>
              <a:tr h="8164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37%</a:t>
                      </a:r>
                    </a:p>
                  </a:txBody>
                  <a:tcPr>
                    <a:noFill/>
                  </a:tcPr>
                </a:tc>
              </a:tr>
              <a:tr h="8164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</a:tr>
              <a:tr h="8164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Q4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>
                    <a:noFill/>
                  </a:tcPr>
                </a:tc>
              </a:tr>
              <a:tr h="8164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FY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>
                    <a:solidFill>
                      <a:srgbClr val="DFE3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Founding team</a:t>
            </a:r>
          </a:p>
        </p:txBody>
      </p:sp>
      <p:sp>
        <p:nvSpPr>
          <p:cNvPr id="3" name="ASSET_PLACEHOLDER:none:fill"/>
          <p:cNvSpPr/>
          <p:nvPr/>
        </p:nvSpPr>
        <p:spPr>
          <a:xfrm>
            <a:off x="468911" y="1469571"/>
            <a:ext cx="2813468" cy="2449285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team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3918857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Alex Kim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911" y="4408714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>
                <a:solidFill>
                  <a:srgbClr val="A1A8B3"/>
                </a:solidFill>
                <a:latin typeface="Arial"/>
              </a:rPr>
              <a:t>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911" y="4898571"/>
            <a:ext cx="2813468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Previously led platform at Stripe; ex-Apple.</a:t>
            </a:r>
          </a:p>
        </p:txBody>
      </p:sp>
      <p:sp>
        <p:nvSpPr>
          <p:cNvPr id="7" name="ASSET_PLACEHOLDER:none:fill"/>
          <p:cNvSpPr/>
          <p:nvPr/>
        </p:nvSpPr>
        <p:spPr>
          <a:xfrm>
            <a:off x="3282379" y="1469571"/>
            <a:ext cx="2813468" cy="2449285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team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82379" y="3918857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Sam Patel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2379" y="4408714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>
                <a:solidFill>
                  <a:srgbClr val="A1A8B3"/>
                </a:solidFill>
                <a:latin typeface="Arial"/>
              </a:rPr>
              <a:t>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2379" y="4898571"/>
            <a:ext cx="2813468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20 years in distributed systems; Datadog alum.</a:t>
            </a:r>
          </a:p>
        </p:txBody>
      </p:sp>
      <p:sp>
        <p:nvSpPr>
          <p:cNvPr id="11" name="ASSET_PLACEHOLDER:none:fill"/>
          <p:cNvSpPr/>
          <p:nvPr/>
        </p:nvSpPr>
        <p:spPr>
          <a:xfrm>
            <a:off x="6095847" y="1469571"/>
            <a:ext cx="2813468" cy="2449285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team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3918857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Jordan Lee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4408714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>
                <a:solidFill>
                  <a:srgbClr val="A1A8B3"/>
                </a:solidFill>
                <a:latin typeface="Arial"/>
              </a:rPr>
              <a:t>CPO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4898571"/>
            <a:ext cx="2813468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Built product at Notion and Figma.</a:t>
            </a:r>
          </a:p>
        </p:txBody>
      </p:sp>
      <p:sp>
        <p:nvSpPr>
          <p:cNvPr id="15" name="ASSET_PLACEHOLDER:none:fill"/>
          <p:cNvSpPr/>
          <p:nvPr/>
        </p:nvSpPr>
        <p:spPr>
          <a:xfrm>
            <a:off x="8909315" y="1469571"/>
            <a:ext cx="2813468" cy="2449285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team photo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9315" y="3918857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Riley Ortiz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9315" y="4408714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>
                <a:solidFill>
                  <a:srgbClr val="A1A8B3"/>
                </a:solidFill>
                <a:latin typeface="Arial"/>
              </a:rPr>
              <a:t>Head of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9315" y="4898571"/>
            <a:ext cx="2813468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Built EMEA + APAC at MongoDB.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Leadership team</a:t>
            </a:r>
          </a:p>
        </p:txBody>
      </p:sp>
      <p:sp>
        <p:nvSpPr>
          <p:cNvPr id="3" name="ASSET_PLACEHOLDER:none:fill"/>
          <p:cNvSpPr/>
          <p:nvPr/>
        </p:nvSpPr>
        <p:spPr>
          <a:xfrm>
            <a:off x="468911" y="1469571"/>
            <a:ext cx="2813468" cy="2449285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team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2379" y="1469571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Alex Kim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379" y="1959428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>
                <a:solidFill>
                  <a:srgbClr val="A1A8B3"/>
                </a:solidFill>
                <a:latin typeface="Arial"/>
              </a:rPr>
              <a:t>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379" y="2449285"/>
            <a:ext cx="2813468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Previously led platform at Stripe; 8 years at Apple before that.</a:t>
            </a:r>
          </a:p>
        </p:txBody>
      </p:sp>
      <p:sp>
        <p:nvSpPr>
          <p:cNvPr id="7" name="ASSET_PLACEHOLDER:none:fill"/>
          <p:cNvSpPr/>
          <p:nvPr/>
        </p:nvSpPr>
        <p:spPr>
          <a:xfrm>
            <a:off x="468911" y="3918857"/>
            <a:ext cx="2813468" cy="2449285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team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82379" y="3918857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Sam Patel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2379" y="4408714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>
                <a:solidFill>
                  <a:srgbClr val="A1A8B3"/>
                </a:solidFill>
                <a:latin typeface="Arial"/>
              </a:rPr>
              <a:t>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2379" y="4898571"/>
            <a:ext cx="2813468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20+ years in distributed systems and database engineering. Datadog alum.</a:t>
            </a:r>
          </a:p>
        </p:txBody>
      </p:sp>
      <p:sp>
        <p:nvSpPr>
          <p:cNvPr id="11" name="ASSET_PLACEHOLDER:none:fill"/>
          <p:cNvSpPr/>
          <p:nvPr/>
        </p:nvSpPr>
        <p:spPr>
          <a:xfrm>
            <a:off x="6095847" y="1469571"/>
            <a:ext cx="2813468" cy="2449285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team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9315" y="1469571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Jordan Lee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9315" y="1959428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>
                <a:solidFill>
                  <a:srgbClr val="A1A8B3"/>
                </a:solidFill>
                <a:latin typeface="Arial"/>
              </a:rPr>
              <a:t>CPO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9315" y="2449285"/>
            <a:ext cx="2813468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Shipped core product surfaces at Notion and Figma.</a:t>
            </a:r>
          </a:p>
        </p:txBody>
      </p:sp>
      <p:sp>
        <p:nvSpPr>
          <p:cNvPr id="15" name="ASSET_PLACEHOLDER:none:fill"/>
          <p:cNvSpPr/>
          <p:nvPr/>
        </p:nvSpPr>
        <p:spPr>
          <a:xfrm>
            <a:off x="6095847" y="3918857"/>
            <a:ext cx="2813468" cy="2449285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team photo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9315" y="3918857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Riley Ortiz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9315" y="4408714"/>
            <a:ext cx="2813468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>
                <a:solidFill>
                  <a:srgbClr val="A1A8B3"/>
                </a:solidFill>
                <a:latin typeface="Arial"/>
              </a:rPr>
              <a:t>Head of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9315" y="4898571"/>
            <a:ext cx="2813468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Built MongoDB's EMEA and APAC GTM organizations.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Roadmap — minimal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8911" y="1469571"/>
          <a:ext cx="11253872" cy="4898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290"/>
                <a:gridCol w="3751290"/>
                <a:gridCol w="3751292"/>
              </a:tblGrid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Georgia"/>
                        </a:rPr>
                        <a:t>Quarter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Georgia"/>
                        </a:rPr>
                        <a:t>Theme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Georgia"/>
                        </a:rPr>
                        <a:t>Ship</a:t>
                      </a:r>
                    </a:p>
                  </a:txBody>
                  <a:tcPr>
                    <a:noFill/>
                  </a:tcPr>
                </a:tc>
              </a:tr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Platform v2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Unified API</a:t>
                      </a:r>
                    </a:p>
                  </a:txBody>
                  <a:tcPr>
                    <a:noFill/>
                  </a:tcPr>
                </a:tc>
              </a:tr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Self-serve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Free tier + billing</a:t>
                      </a:r>
                    </a:p>
                  </a:txBody>
                  <a:tcPr>
                    <a:noFill/>
                  </a:tcPr>
                </a:tc>
              </a:tr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Analytics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Saved views, alerting</a:t>
                      </a:r>
                    </a:p>
                  </a:txBody>
                  <a:tcPr>
                    <a:noFill/>
                  </a:tcPr>
                </a:tc>
              </a:tr>
              <a:tr h="97971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Q4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Enterprise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SSO + audit + DLP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1469571"/>
            <a:ext cx="11253872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Georgia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220202" y="3429000"/>
            <a:ext cx="3751290" cy="979714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4898571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0">
                <a:solidFill>
                  <a:srgbClr val="A1A8B3"/>
                </a:solidFill>
                <a:latin typeface="Arial"/>
              </a:rPr>
              <a:t>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